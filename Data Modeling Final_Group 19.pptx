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oto Sans Symbol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iRUUjAOAbT0+8mUoLLSRxR6WG0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Symbols-bold.fntdata"/><Relationship Id="rId14" Type="http://schemas.openxmlformats.org/officeDocument/2006/relationships/font" Target="fonts/NotoSansSymbols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59a6d76e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c59a6d76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59a6d76e4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c59a6d76e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59a6d76e4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c59a6d76e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59a6d76e4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c59a6d76e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59a6d76e4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c59a6d76e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/>
          <p:nvPr/>
        </p:nvSpPr>
        <p:spPr>
          <a:xfrm>
            <a:off x="755650" y="0"/>
            <a:ext cx="5950761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6706411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7"/>
          <p:cNvSpPr txBox="1"/>
          <p:nvPr>
            <p:ph type="ctrTitle"/>
          </p:nvPr>
        </p:nvSpPr>
        <p:spPr>
          <a:xfrm>
            <a:off x="1958856" y="2571749"/>
            <a:ext cx="4138550" cy="1701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subTitle"/>
          </p:nvPr>
        </p:nvSpPr>
        <p:spPr>
          <a:xfrm>
            <a:off x="2079206" y="1701590"/>
            <a:ext cx="4018200" cy="870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rmAutofit/>
          </a:bodyPr>
          <a:lstStyle>
            <a:lvl1pPr lvl="0" algn="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215"/>
              <a:buNone/>
              <a:defRPr b="0" sz="135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15"/>
              <a:buNone/>
              <a:defRPr sz="1350"/>
            </a:lvl2pPr>
            <a:lvl3pPr lvl="2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15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080"/>
              <a:buNone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7"/>
          <p:cNvSpPr txBox="1"/>
          <p:nvPr/>
        </p:nvSpPr>
        <p:spPr>
          <a:xfrm>
            <a:off x="1643462" y="2447139"/>
            <a:ext cx="3117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1958857" y="606042"/>
            <a:ext cx="596874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2080199" y="1539087"/>
            <a:ext cx="5847405" cy="2998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8"/>
          <p:cNvSpPr txBox="1"/>
          <p:nvPr/>
        </p:nvSpPr>
        <p:spPr>
          <a:xfrm>
            <a:off x="1646207" y="480919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/>
        </p:nvSpPr>
        <p:spPr>
          <a:xfrm>
            <a:off x="1643882" y="2221939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1957405" y="2360440"/>
            <a:ext cx="5967420" cy="10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2080477" y="1701590"/>
            <a:ext cx="5843948" cy="65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rmAutofit/>
          </a:bodyPr>
          <a:lstStyle>
            <a:lvl1pPr indent="-228600" lvl="0" marL="457200" algn="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215"/>
              <a:buNone/>
              <a:defRPr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15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15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08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1957405" y="604363"/>
            <a:ext cx="5963238" cy="8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1954031" y="1539087"/>
            <a:ext cx="2918970" cy="2998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99977" y="1539086"/>
            <a:ext cx="2920667" cy="2998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1647129" y="480917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1645238" y="477318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 txBox="1"/>
          <p:nvPr>
            <p:ph type="title"/>
          </p:nvPr>
        </p:nvSpPr>
        <p:spPr>
          <a:xfrm>
            <a:off x="1957405" y="604364"/>
            <a:ext cx="5967420" cy="808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1956964" y="1539086"/>
            <a:ext cx="2922350" cy="53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85"/>
              <a:buNone/>
              <a:defRPr b="0" sz="1650" cap="none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15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080"/>
              <a:buNone/>
              <a:defRPr b="1" sz="12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1956964" y="2138498"/>
            <a:ext cx="2920217" cy="230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999975" y="1539086"/>
            <a:ext cx="2924849" cy="53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85"/>
              <a:buNone/>
              <a:defRPr b="0" sz="1650" cap="none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15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080"/>
              <a:buNone/>
              <a:defRPr b="1" sz="12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999976" y="2138498"/>
            <a:ext cx="2924849" cy="230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2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2"/>
          <p:cNvSpPr txBox="1"/>
          <p:nvPr>
            <p:ph type="title"/>
          </p:nvPr>
        </p:nvSpPr>
        <p:spPr>
          <a:xfrm>
            <a:off x="1958857" y="606042"/>
            <a:ext cx="596874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1647129" y="480919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1165616" y="845662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1477743" y="961839"/>
            <a:ext cx="1998271" cy="14274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3840115" y="604363"/>
            <a:ext cx="4084709" cy="3933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1477742" y="2389616"/>
            <a:ext cx="1998271" cy="1789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81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675"/>
              <a:buNone/>
              <a:defRPr sz="750"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>
            <p:ph idx="2" type="pic"/>
          </p:nvPr>
        </p:nvSpPr>
        <p:spPr>
          <a:xfrm>
            <a:off x="5060296" y="2422"/>
            <a:ext cx="3472301" cy="5143500"/>
          </a:xfrm>
          <a:prstGeom prst="rect">
            <a:avLst/>
          </a:prstGeom>
          <a:solidFill>
            <a:schemeClr val="lt1">
              <a:alpha val="10196"/>
            </a:schemeClr>
          </a:solidFill>
          <a:ln>
            <a:noFill/>
          </a:ln>
        </p:spPr>
      </p:sp>
      <p:sp>
        <p:nvSpPr>
          <p:cNvPr id="100" name="Google Shape;100;p15"/>
          <p:cNvSpPr txBox="1"/>
          <p:nvPr/>
        </p:nvSpPr>
        <p:spPr>
          <a:xfrm>
            <a:off x="1166015" y="845662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1478430" y="961839"/>
            <a:ext cx="2978240" cy="1425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1477741" y="2387196"/>
            <a:ext cx="2978906" cy="1789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sz="1500"/>
            </a:lvl1pPr>
            <a:lvl2pPr indent="-228600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81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675"/>
              <a:buNone/>
              <a:defRPr sz="750"/>
            </a:lvl9pPr>
          </a:lstStyle>
          <a:p/>
        </p:txBody>
      </p:sp>
      <p:sp>
        <p:nvSpPr>
          <p:cNvPr id="103" name="Google Shape;103;p15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1645677" y="480919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1958857" y="606042"/>
            <a:ext cx="596556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 rot="5400000">
            <a:off x="3504716" y="114570"/>
            <a:ext cx="2998371" cy="5847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 rot="5400000">
            <a:off x="7752856" y="300504"/>
            <a:ext cx="31172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7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 txBox="1"/>
          <p:nvPr>
            <p:ph type="title"/>
          </p:nvPr>
        </p:nvSpPr>
        <p:spPr>
          <a:xfrm rot="5400000">
            <a:off x="5460433" y="2073466"/>
            <a:ext cx="3933095" cy="994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 rot="5400000">
            <a:off x="2476827" y="207544"/>
            <a:ext cx="3809651" cy="4850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indent="-331469" lvl="1" marL="914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2pPr>
            <a:lvl3pPr indent="-331469" lvl="2" marL="1371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3pPr>
            <a:lvl4pPr indent="-331469" lvl="3" marL="18288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4pPr>
            <a:lvl5pPr indent="-331470" lvl="4" marL="22860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5pPr>
            <a:lvl6pPr indent="-331470" lvl="5" marL="27432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6pPr>
            <a:lvl7pPr indent="-331470" lvl="6" marL="32004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7pPr>
            <a:lvl8pPr indent="-331470" lvl="7" marL="3657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Char char="▪"/>
              <a:defRPr/>
            </a:lvl8pPr>
            <a:lvl9pPr indent="-331470" lvl="8" marL="411480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SzPts val="1620"/>
              <a:buChar char="▪"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7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9.jpg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23846" y="1578901"/>
            <a:ext cx="7020154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4"/>
          <p:cNvSpPr/>
          <p:nvPr/>
        </p:nvSpPr>
        <p:spPr>
          <a:xfrm>
            <a:off x="0" y="0"/>
            <a:ext cx="723131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4"/>
          <p:cNvSpPr txBox="1"/>
          <p:nvPr>
            <p:ph type="title"/>
          </p:nvPr>
        </p:nvSpPr>
        <p:spPr>
          <a:xfrm>
            <a:off x="1958857" y="606042"/>
            <a:ext cx="596874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ial"/>
              <a:buNone/>
              <a:defRPr b="0" i="0" sz="25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4"/>
          <p:cNvSpPr txBox="1"/>
          <p:nvPr>
            <p:ph idx="1" type="body"/>
          </p:nvPr>
        </p:nvSpPr>
        <p:spPr>
          <a:xfrm>
            <a:off x="2080199" y="1539087"/>
            <a:ext cx="5847405" cy="2998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Noto Sans Symbols"/>
              <a:buChar char="▪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5752" lvl="1" marL="914400" marR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1215"/>
              <a:buFont typeface="Noto Sans Symbols"/>
              <a:buChar char="▪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8607" lvl="3" marL="1828800" marR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81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81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81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0034" lvl="7" marL="3657600" marR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81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0034" lvl="8" marL="4114800" marR="0" rtl="0" algn="l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chemeClr val="accent6"/>
              </a:buClr>
              <a:buSzPts val="81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1" type="ftr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2" type="sldNum"/>
          </p:nvPr>
        </p:nvSpPr>
        <p:spPr>
          <a:xfrm>
            <a:off x="118806" y="123445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4"/>
          <p:cNvSpPr/>
          <p:nvPr/>
        </p:nvSpPr>
        <p:spPr>
          <a:xfrm>
            <a:off x="721532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/>
          <p:nvPr/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55649" y="0"/>
            <a:ext cx="5950761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6706410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643461" y="2447139"/>
            <a:ext cx="311727" cy="346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2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0" y="0"/>
            <a:ext cx="914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1599" y="0"/>
            <a:ext cx="9142401" cy="5143500"/>
          </a:xfrm>
          <a:prstGeom prst="rect">
            <a:avLst/>
          </a:prstGeom>
          <a:solidFill>
            <a:schemeClr val="lt2">
              <a:alpha val="1215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"/>
          <p:cNvSpPr txBox="1"/>
          <p:nvPr>
            <p:ph type="title"/>
          </p:nvPr>
        </p:nvSpPr>
        <p:spPr>
          <a:xfrm>
            <a:off x="1606308" y="1078337"/>
            <a:ext cx="5931384" cy="18712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</a:pPr>
            <a:r>
              <a:rPr lang="en-US" sz="4300"/>
              <a:t>Data Analysis into US Higher Education Affordability Crisis</a:t>
            </a:r>
            <a:endParaRPr/>
          </a:p>
        </p:txBody>
      </p:sp>
      <p:sp>
        <p:nvSpPr>
          <p:cNvPr id="139" name="Google Shape;139;p1"/>
          <p:cNvSpPr txBox="1"/>
          <p:nvPr>
            <p:ph idx="1" type="body"/>
          </p:nvPr>
        </p:nvSpPr>
        <p:spPr>
          <a:xfrm>
            <a:off x="2562099" y="3015109"/>
            <a:ext cx="4018200" cy="87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SzPts val="1620"/>
              <a:buNone/>
            </a:pPr>
            <a:r>
              <a:rPr lang="en-US" sz="1800"/>
              <a:t>By: Anna Brunner, LeChae Mottley, &amp; Thomas Reinhart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"/>
          <p:cNvSpPr/>
          <p:nvPr/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646207" y="480918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0" y="0"/>
            <a:ext cx="9142400" cy="51414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"/>
          <p:cNvSpPr/>
          <p:nvPr/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755649" y="0"/>
            <a:ext cx="7783501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>
            <p:ph type="title"/>
          </p:nvPr>
        </p:nvSpPr>
        <p:spPr>
          <a:xfrm>
            <a:off x="1477353" y="606042"/>
            <a:ext cx="2488119" cy="807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400"/>
              <a:t>Tuition Growth vs Wage Growth</a:t>
            </a:r>
            <a:endParaRPr/>
          </a:p>
        </p:txBody>
      </p:sp>
      <p:sp>
        <p:nvSpPr>
          <p:cNvPr id="158" name="Google Shape;158;p2"/>
          <p:cNvSpPr txBox="1"/>
          <p:nvPr>
            <p:ph idx="1" type="body"/>
          </p:nvPr>
        </p:nvSpPr>
        <p:spPr>
          <a:xfrm>
            <a:off x="1477352" y="1539087"/>
            <a:ext cx="2488120" cy="2998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90"/>
              <a:buFont typeface="Noto Sans Symbols"/>
              <a:buChar char="▪"/>
            </a:pPr>
            <a:r>
              <a:rPr lang="en-US" sz="1100"/>
              <a:t>Average in-state tuition increased </a:t>
            </a:r>
            <a:r>
              <a:rPr b="1" lang="en-US" sz="1100"/>
              <a:t>~23% from 2014–2020</a:t>
            </a:r>
            <a:br>
              <a:rPr b="1" lang="en-US" sz="1100"/>
            </a:br>
            <a:endParaRPr b="1" sz="1100"/>
          </a:p>
          <a:p>
            <a:pPr indent="-2984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990"/>
              <a:buFont typeface="Noto Sans Symbols"/>
              <a:buChar char="▪"/>
            </a:pPr>
            <a:r>
              <a:rPr lang="en-US" sz="1100"/>
              <a:t>Median state wages increased </a:t>
            </a:r>
            <a:r>
              <a:rPr b="1" lang="en-US" sz="1100"/>
              <a:t>~21% in the same period</a:t>
            </a:r>
            <a:br>
              <a:rPr b="1" lang="en-US" sz="1100"/>
            </a:br>
            <a:endParaRPr b="1" sz="1100"/>
          </a:p>
          <a:p>
            <a:pPr indent="-2984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990"/>
              <a:buFont typeface="Noto Sans Symbols"/>
              <a:buChar char="▪"/>
            </a:pPr>
            <a:r>
              <a:rPr lang="en-US" sz="1100"/>
              <a:t>Tuition represents </a:t>
            </a:r>
            <a:r>
              <a:rPr b="1" lang="en-US" sz="1100"/>
              <a:t>~58–62% of the average annual wage</a:t>
            </a:r>
            <a:br>
              <a:rPr b="1" lang="en-US" sz="1100"/>
            </a:br>
            <a:endParaRPr b="1" sz="1100"/>
          </a:p>
          <a:p>
            <a:pPr indent="-2984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990"/>
              <a:buFont typeface="Noto Sans Symbols"/>
              <a:buChar char="▪"/>
            </a:pPr>
            <a:r>
              <a:rPr lang="en-US" sz="1100"/>
              <a:t>Indicates </a:t>
            </a:r>
            <a:r>
              <a:rPr b="1" lang="en-US" sz="1100"/>
              <a:t>growing affordability pressure for families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SzPts val="990"/>
              <a:buFont typeface="Noto Sans Symbols"/>
              <a:buNone/>
            </a:pPr>
            <a:r>
              <a:t/>
            </a:r>
            <a:endParaRPr sz="1100"/>
          </a:p>
        </p:txBody>
      </p:sp>
      <p:pic>
        <p:nvPicPr>
          <p:cNvPr id="159" name="Google Shape;15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567" y="1413962"/>
            <a:ext cx="4323901" cy="2254523"/>
          </a:xfrm>
          <a:prstGeom prst="rect">
            <a:avLst/>
          </a:prstGeom>
          <a:noFill/>
          <a:ln cap="flat" cmpd="sng" w="9525">
            <a:solidFill>
              <a:srgbClr val="4F8F9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2"/>
          <p:cNvSpPr/>
          <p:nvPr/>
        </p:nvSpPr>
        <p:spPr>
          <a:xfrm>
            <a:off x="8540749" y="-2038"/>
            <a:ext cx="20574" cy="51434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/>
          <p:nvPr/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1646207" y="480918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0" y="0"/>
            <a:ext cx="9142400" cy="51414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/>
          <p:nvPr/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755649" y="0"/>
            <a:ext cx="7783501" cy="51435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>
            <p:ph type="title"/>
          </p:nvPr>
        </p:nvSpPr>
        <p:spPr>
          <a:xfrm>
            <a:off x="1477353" y="606042"/>
            <a:ext cx="2977128" cy="807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100"/>
              <a:t>Variation Across States and Institutions</a:t>
            </a:r>
            <a:endParaRPr/>
          </a:p>
        </p:txBody>
      </p:sp>
      <p:sp>
        <p:nvSpPr>
          <p:cNvPr id="179" name="Google Shape;179;p3"/>
          <p:cNvSpPr txBox="1"/>
          <p:nvPr>
            <p:ph idx="1" type="body"/>
          </p:nvPr>
        </p:nvSpPr>
        <p:spPr>
          <a:xfrm>
            <a:off x="1477352" y="1539087"/>
            <a:ext cx="2977129" cy="2998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60"/>
              <a:buFont typeface="Noto Sans Symbols"/>
              <a:buChar char="▪"/>
            </a:pPr>
            <a:r>
              <a:rPr lang="en-US" sz="1400"/>
              <a:t>Tuition levels differ substantially across states</a:t>
            </a:r>
            <a:endParaRPr/>
          </a:p>
          <a:p>
            <a:pPr indent="-29845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▪"/>
            </a:pPr>
            <a:r>
              <a:rPr lang="en-US" sz="1400"/>
              <a:t>Higher-cost states often show larger debt burdens</a:t>
            </a:r>
            <a:endParaRPr/>
          </a:p>
          <a:p>
            <a:pPr indent="-29845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▪"/>
            </a:pPr>
            <a:r>
              <a:rPr lang="en-US" sz="1400"/>
              <a:t>Institutional pricing and geography strongly influence affordability outcomes 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SzPts val="1260"/>
              <a:buFont typeface="Noto Sans Symbols"/>
              <a:buNone/>
            </a:pPr>
            <a:r>
              <a:t/>
            </a:r>
            <a:endParaRPr sz="1400"/>
          </a:p>
        </p:txBody>
      </p:sp>
      <p:pic>
        <p:nvPicPr>
          <p:cNvPr id="180" name="Google Shape;18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5774" y="130987"/>
            <a:ext cx="3274968" cy="2565951"/>
          </a:xfrm>
          <a:prstGeom prst="rect">
            <a:avLst/>
          </a:prstGeom>
          <a:noFill/>
          <a:ln cap="flat" cmpd="sng" w="9525">
            <a:solidFill>
              <a:srgbClr val="4F8F9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9521" y="2814286"/>
            <a:ext cx="3698830" cy="2204027"/>
          </a:xfrm>
          <a:prstGeom prst="rect">
            <a:avLst/>
          </a:prstGeom>
          <a:noFill/>
          <a:ln cap="flat" cmpd="sng" w="9525">
            <a:solidFill>
              <a:srgbClr val="4F8F9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3"/>
          <p:cNvSpPr/>
          <p:nvPr/>
        </p:nvSpPr>
        <p:spPr>
          <a:xfrm>
            <a:off x="8540749" y="-2038"/>
            <a:ext cx="20574" cy="51434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c59a6d76e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c59a6d76e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c59a6d76e4_0_0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c59a6d76e4_0_0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c59a6d76e4_0_0"/>
          <p:cNvSpPr/>
          <p:nvPr/>
        </p:nvSpPr>
        <p:spPr>
          <a:xfrm>
            <a:off x="753359" y="0"/>
            <a:ext cx="77793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c59a6d76e4_0_0"/>
          <p:cNvSpPr/>
          <p:nvPr/>
        </p:nvSpPr>
        <p:spPr>
          <a:xfrm>
            <a:off x="8532996" y="0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c59a6d76e4_0_0"/>
          <p:cNvSpPr txBox="1"/>
          <p:nvPr/>
        </p:nvSpPr>
        <p:spPr>
          <a:xfrm>
            <a:off x="1646207" y="480918"/>
            <a:ext cx="3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c59a6d76e4_0_0"/>
          <p:cNvSpPr/>
          <p:nvPr/>
        </p:nvSpPr>
        <p:spPr>
          <a:xfrm>
            <a:off x="0" y="0"/>
            <a:ext cx="9142500" cy="5141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c59a6d76e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c59a6d76e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c59a6d76e4_0_0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c59a6d76e4_0_0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c59a6d76e4_0_0"/>
          <p:cNvSpPr/>
          <p:nvPr/>
        </p:nvSpPr>
        <p:spPr>
          <a:xfrm>
            <a:off x="755649" y="0"/>
            <a:ext cx="77835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c59a6d76e4_0_0"/>
          <p:cNvSpPr txBox="1"/>
          <p:nvPr>
            <p:ph type="title"/>
          </p:nvPr>
        </p:nvSpPr>
        <p:spPr>
          <a:xfrm>
            <a:off x="1061046" y="184500"/>
            <a:ext cx="7020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100"/>
              <a:t>Median In-State Tuition Grouped By Religious </a:t>
            </a:r>
            <a:r>
              <a:rPr lang="en-US" sz="2100"/>
              <a:t>Affiliation</a:t>
            </a:r>
            <a:endParaRPr/>
          </a:p>
        </p:txBody>
      </p:sp>
      <p:sp>
        <p:nvSpPr>
          <p:cNvPr id="201" name="Google Shape;201;g3c59a6d76e4_0_0"/>
          <p:cNvSpPr/>
          <p:nvPr/>
        </p:nvSpPr>
        <p:spPr>
          <a:xfrm>
            <a:off x="8540749" y="-2038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c59a6d76e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837" y="992400"/>
            <a:ext cx="3584462" cy="2998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</p:pic>
      <p:pic>
        <p:nvPicPr>
          <p:cNvPr id="203" name="Google Shape;203;g3c59a6d76e4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6725" y="1169863"/>
            <a:ext cx="4704425" cy="2643575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</p:pic>
      <p:sp>
        <p:nvSpPr>
          <p:cNvPr id="204" name="Google Shape;204;g3c59a6d76e4_0_0"/>
          <p:cNvSpPr/>
          <p:nvPr/>
        </p:nvSpPr>
        <p:spPr>
          <a:xfrm>
            <a:off x="3958075" y="3106375"/>
            <a:ext cx="5047500" cy="27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c59a6d76e4_0_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c59a6d76e4_0_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c59a6d76e4_0_87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c59a6d76e4_0_87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c59a6d76e4_0_87"/>
          <p:cNvSpPr/>
          <p:nvPr/>
        </p:nvSpPr>
        <p:spPr>
          <a:xfrm>
            <a:off x="753359" y="0"/>
            <a:ext cx="77793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c59a6d76e4_0_87"/>
          <p:cNvSpPr/>
          <p:nvPr/>
        </p:nvSpPr>
        <p:spPr>
          <a:xfrm>
            <a:off x="8532996" y="0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c59a6d76e4_0_87"/>
          <p:cNvSpPr txBox="1"/>
          <p:nvPr/>
        </p:nvSpPr>
        <p:spPr>
          <a:xfrm>
            <a:off x="1646207" y="480918"/>
            <a:ext cx="3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c59a6d76e4_0_87"/>
          <p:cNvSpPr/>
          <p:nvPr/>
        </p:nvSpPr>
        <p:spPr>
          <a:xfrm>
            <a:off x="0" y="0"/>
            <a:ext cx="9142500" cy="5141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c59a6d76e4_0_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c59a6d76e4_0_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c59a6d76e4_0_87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c59a6d76e4_0_87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c59a6d76e4_0_87"/>
          <p:cNvSpPr/>
          <p:nvPr/>
        </p:nvSpPr>
        <p:spPr>
          <a:xfrm>
            <a:off x="755649" y="0"/>
            <a:ext cx="77835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c59a6d76e4_0_87"/>
          <p:cNvSpPr txBox="1"/>
          <p:nvPr>
            <p:ph type="title"/>
          </p:nvPr>
        </p:nvSpPr>
        <p:spPr>
          <a:xfrm>
            <a:off x="1061046" y="184500"/>
            <a:ext cx="7020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100"/>
              <a:t>Median Student Debt Grouped By Religious Affiliation</a:t>
            </a:r>
            <a:endParaRPr/>
          </a:p>
        </p:txBody>
      </p:sp>
      <p:sp>
        <p:nvSpPr>
          <p:cNvPr id="223" name="Google Shape;223;g3c59a6d76e4_0_87"/>
          <p:cNvSpPr/>
          <p:nvPr/>
        </p:nvSpPr>
        <p:spPr>
          <a:xfrm>
            <a:off x="8540749" y="-2038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3c59a6d76e4_0_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175" y="992400"/>
            <a:ext cx="3505225" cy="360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c59a6d76e4_0_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8975" y="1065625"/>
            <a:ext cx="4576775" cy="2916225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</p:pic>
      <p:sp>
        <p:nvSpPr>
          <p:cNvPr id="226" name="Google Shape;226;g3c59a6d76e4_0_87"/>
          <p:cNvSpPr/>
          <p:nvPr/>
        </p:nvSpPr>
        <p:spPr>
          <a:xfrm>
            <a:off x="4044525" y="1578900"/>
            <a:ext cx="5047500" cy="27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c59a6d76e4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c59a6d76e4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c59a6d76e4_0_21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c59a6d76e4_0_21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c59a6d76e4_0_21"/>
          <p:cNvSpPr/>
          <p:nvPr/>
        </p:nvSpPr>
        <p:spPr>
          <a:xfrm>
            <a:off x="753359" y="0"/>
            <a:ext cx="77793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c59a6d76e4_0_21"/>
          <p:cNvSpPr/>
          <p:nvPr/>
        </p:nvSpPr>
        <p:spPr>
          <a:xfrm>
            <a:off x="8532996" y="0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c59a6d76e4_0_21"/>
          <p:cNvSpPr txBox="1"/>
          <p:nvPr/>
        </p:nvSpPr>
        <p:spPr>
          <a:xfrm>
            <a:off x="1646207" y="480918"/>
            <a:ext cx="3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c59a6d76e4_0_21"/>
          <p:cNvSpPr/>
          <p:nvPr/>
        </p:nvSpPr>
        <p:spPr>
          <a:xfrm>
            <a:off x="0" y="0"/>
            <a:ext cx="9142500" cy="5141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c59a6d76e4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c59a6d76e4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c59a6d76e4_0_21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c59a6d76e4_0_21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c59a6d76e4_0_21"/>
          <p:cNvSpPr/>
          <p:nvPr/>
        </p:nvSpPr>
        <p:spPr>
          <a:xfrm>
            <a:off x="755649" y="0"/>
            <a:ext cx="77835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c59a6d76e4_0_21"/>
          <p:cNvSpPr txBox="1"/>
          <p:nvPr>
            <p:ph type="title"/>
          </p:nvPr>
        </p:nvSpPr>
        <p:spPr>
          <a:xfrm>
            <a:off x="1436650" y="212300"/>
            <a:ext cx="6534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100"/>
              <a:t>Distribution of In-State Tuition</a:t>
            </a:r>
            <a:endParaRPr/>
          </a:p>
        </p:txBody>
      </p:sp>
      <p:sp>
        <p:nvSpPr>
          <p:cNvPr id="245" name="Google Shape;245;g3c59a6d76e4_0_21"/>
          <p:cNvSpPr/>
          <p:nvPr/>
        </p:nvSpPr>
        <p:spPr>
          <a:xfrm>
            <a:off x="8540749" y="-2038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g3c59a6d76e4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7075" y="618650"/>
            <a:ext cx="5788075" cy="3906201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3c59a6d76e4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c59a6d76e4_0_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c59a6d76e4_0_111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c59a6d76e4_0_111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c59a6d76e4_0_111"/>
          <p:cNvSpPr/>
          <p:nvPr/>
        </p:nvSpPr>
        <p:spPr>
          <a:xfrm>
            <a:off x="753359" y="0"/>
            <a:ext cx="77793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c59a6d76e4_0_111"/>
          <p:cNvSpPr/>
          <p:nvPr/>
        </p:nvSpPr>
        <p:spPr>
          <a:xfrm>
            <a:off x="8532996" y="0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c59a6d76e4_0_111"/>
          <p:cNvSpPr txBox="1"/>
          <p:nvPr/>
        </p:nvSpPr>
        <p:spPr>
          <a:xfrm>
            <a:off x="1646207" y="480918"/>
            <a:ext cx="3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c59a6d76e4_0_111"/>
          <p:cNvSpPr/>
          <p:nvPr/>
        </p:nvSpPr>
        <p:spPr>
          <a:xfrm>
            <a:off x="0" y="0"/>
            <a:ext cx="9142500" cy="5141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g3c59a6d76e4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c59a6d76e4_0_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c59a6d76e4_0_111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c59a6d76e4_0_111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c59a6d76e4_0_111"/>
          <p:cNvSpPr/>
          <p:nvPr/>
        </p:nvSpPr>
        <p:spPr>
          <a:xfrm>
            <a:off x="755649" y="0"/>
            <a:ext cx="77835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c59a6d76e4_0_111"/>
          <p:cNvSpPr txBox="1"/>
          <p:nvPr>
            <p:ph type="title"/>
          </p:nvPr>
        </p:nvSpPr>
        <p:spPr>
          <a:xfrm>
            <a:off x="1436650" y="212300"/>
            <a:ext cx="6534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100"/>
              <a:t>Distribution of Student Loan Delinquency Rates</a:t>
            </a:r>
            <a:endParaRPr/>
          </a:p>
        </p:txBody>
      </p:sp>
      <p:sp>
        <p:nvSpPr>
          <p:cNvPr id="265" name="Google Shape;265;g3c59a6d76e4_0_111"/>
          <p:cNvSpPr/>
          <p:nvPr/>
        </p:nvSpPr>
        <p:spPr>
          <a:xfrm>
            <a:off x="8540749" y="-2038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g3c59a6d76e4_0_111" title="Distribution of Delinquency Rat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5500" y="664499"/>
            <a:ext cx="5750799" cy="38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c59a6d76e4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c59a6d76e4_0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c59a6d76e4_0_131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c59a6d76e4_0_131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c59a6d76e4_0_131"/>
          <p:cNvSpPr/>
          <p:nvPr/>
        </p:nvSpPr>
        <p:spPr>
          <a:xfrm>
            <a:off x="753359" y="0"/>
            <a:ext cx="77793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c59a6d76e4_0_131"/>
          <p:cNvSpPr/>
          <p:nvPr/>
        </p:nvSpPr>
        <p:spPr>
          <a:xfrm>
            <a:off x="8532996" y="0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c59a6d76e4_0_131"/>
          <p:cNvSpPr txBox="1"/>
          <p:nvPr/>
        </p:nvSpPr>
        <p:spPr>
          <a:xfrm>
            <a:off x="1646207" y="480918"/>
            <a:ext cx="3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c59a6d76e4_0_131"/>
          <p:cNvSpPr/>
          <p:nvPr/>
        </p:nvSpPr>
        <p:spPr>
          <a:xfrm>
            <a:off x="0" y="0"/>
            <a:ext cx="9142500" cy="5141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c59a6d76e4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845" y="1578901"/>
            <a:ext cx="7020153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c59a6d76e4_0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c59a6d76e4_0_131"/>
          <p:cNvSpPr/>
          <p:nvPr/>
        </p:nvSpPr>
        <p:spPr>
          <a:xfrm>
            <a:off x="0" y="0"/>
            <a:ext cx="723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c59a6d76e4_0_131"/>
          <p:cNvSpPr/>
          <p:nvPr/>
        </p:nvSpPr>
        <p:spPr>
          <a:xfrm>
            <a:off x="721531" y="0"/>
            <a:ext cx="34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c59a6d76e4_0_131"/>
          <p:cNvSpPr/>
          <p:nvPr/>
        </p:nvSpPr>
        <p:spPr>
          <a:xfrm>
            <a:off x="755649" y="0"/>
            <a:ext cx="7783500" cy="5143500"/>
          </a:xfrm>
          <a:prstGeom prst="rect">
            <a:avLst/>
          </a:prstGeom>
          <a:solidFill>
            <a:schemeClr val="dk2">
              <a:alpha val="921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c59a6d76e4_0_131"/>
          <p:cNvSpPr txBox="1"/>
          <p:nvPr>
            <p:ph type="title"/>
          </p:nvPr>
        </p:nvSpPr>
        <p:spPr>
          <a:xfrm>
            <a:off x="1436650" y="212300"/>
            <a:ext cx="6534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33333"/>
              <a:buFont typeface="Arial"/>
              <a:buNone/>
            </a:pPr>
            <a:r>
              <a:rPr lang="en-US" sz="2100"/>
              <a:t>Distribution of Student Loan Delinquency Rates by Salary</a:t>
            </a:r>
            <a:endParaRPr/>
          </a:p>
        </p:txBody>
      </p:sp>
      <p:sp>
        <p:nvSpPr>
          <p:cNvPr id="285" name="Google Shape;285;g3c59a6d76e4_0_131"/>
          <p:cNvSpPr/>
          <p:nvPr/>
        </p:nvSpPr>
        <p:spPr>
          <a:xfrm>
            <a:off x="8540749" y="-2038"/>
            <a:ext cx="20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c59a6d76e4_0_131" title="Delinqency by Salary Ran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6199" y="680600"/>
            <a:ext cx="5565576" cy="413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dison">
  <a:themeElements>
    <a:clrScheme name="Madison">
      <a:dk1>
        <a:srgbClr val="000000"/>
      </a:dk1>
      <a:lt1>
        <a:srgbClr val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